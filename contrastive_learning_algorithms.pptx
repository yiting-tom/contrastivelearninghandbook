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822960"/>
            <a:ext cx="7680960" cy="3383280"/>
          </a:xfrm>
          <a:prstGeom prst="rect">
            <a:avLst/>
          </a:prstGeom>
          <a:solidFill>
            <a:srgbClr val="161B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822960"/>
            <a:ext cx="109728" cy="3383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822960"/>
            <a:ext cx="768096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02412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自監督對比學習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005840" y="1691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演算法數學原理深度剖析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05840" y="23408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ℒ_NCE = -log  exp(zᵢ·zⱼ/τ) / Σₖ exp(zᵢ·zₖ/τ)      [ InfoNCE 通用形式 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2834640"/>
            <a:ext cx="1554480" cy="292608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834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5CF6"/>
                </a:solidFill>
              </a:rPr>
              <a:t>14 Algorithms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24912" y="2834640"/>
            <a:ext cx="1554480" cy="292608"/>
          </a:xfrm>
          <a:prstGeom prst="rect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4912" y="2834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</a:rPr>
              <a:t>Expert Level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43984" y="2834640"/>
            <a:ext cx="1554480" cy="292608"/>
          </a:xfrm>
          <a:prstGeom prst="rect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2834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BF24"/>
                </a:solidFill>
              </a:rPr>
              <a:t>Mathematical Focus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2834640"/>
            <a:ext cx="1554480" cy="292608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2834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2018 – 2024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0"/>
            <a:ext cx="2286000" cy="571500"/>
          </a:xfrm>
          <a:prstGeom prst="rect">
            <a:avLst/>
          </a:prstGeom>
          <a:solidFill>
            <a:srgbClr val="8B5CF6">
              <a:alpha val="12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572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1: Proxy Tasks (2018-19)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4572000"/>
            <a:ext cx="2286000" cy="571500"/>
          </a:xfrm>
          <a:prstGeom prst="rect">
            <a:avLst/>
          </a:prstGeom>
          <a:solidFill>
            <a:srgbClr val="22D3EE">
              <a:alpha val="12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4572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2: In-Batch Contrastive (2020)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4572000"/>
            <a:ext cx="2286000" cy="571500"/>
          </a:xfrm>
          <a:prstGeom prst="rect">
            <a:avLst/>
          </a:prstGeom>
          <a:solidFill>
            <a:srgbClr val="34D399">
              <a:alpha val="12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572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3: No-Negative (2020-21)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4572000"/>
            <a:ext cx="2286000" cy="571500"/>
          </a:xfrm>
          <a:prstGeom prst="rect">
            <a:avLst/>
          </a:prstGeom>
          <a:solidFill>
            <a:srgbClr val="FBBF24">
              <a:alpha val="12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4572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4: Transformers (2021-24)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共用數學框架與符號定義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Mathematical Framework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4160520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符號定義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161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120" y="11612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原始圖像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1463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xᵢ, xⱼ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14630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同一圖像的兩個增強視角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" y="1764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03120" y="1764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Encoder（參數 θ）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" y="2066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0665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Head（參數 φ）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" y="2368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23682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MLP（參數 ψ，部分方法）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" y="2670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hᵢ = f_θ(xᵢ)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2670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特徵（下游評估用）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" y="2971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zᵢ = g_φ(hᵢ)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03120" y="29718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特徵（Loss 計算用）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z̃ᵢ = zᵢ/‖zᵢ‖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正規化 projection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896" y="35753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03120" y="35753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Temperature（控制分布尖銳度）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" y="3877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03120" y="38770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Momentum 係數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0896" y="4178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03120" y="41788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大小 / Prototype 數量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" y="4480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sg(·)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03120" y="44805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Stop-gradient 算子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53712" y="768096"/>
            <a:ext cx="4407408" cy="100584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45152" y="822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問題設定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45152" y="1115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給定未標記資料集 𝒳，學習 Encoder f_θ 使其特徵可遷移至下游任務（無需標籤）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53712" y="1865376"/>
            <a:ext cx="4407408" cy="5029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18653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→  augment  →  xᵢ,xⱼ  →  f_θ  →  hᵢ,hⱼ  →  g_φ  →  zᵢ,zⱼ  →  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53712" y="2468880"/>
            <a:ext cx="4407408" cy="246888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45152" y="2542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通用形式 (van den Oord 2018)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45152" y="28529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-𝔼[log f(x,c) / Σ_{x'∈X} f(x',c)]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45152" y="34015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f(x,c) = exp(sim(z,c) / τ)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45152" y="36758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sim(u,v) = uᵀv / (‖u‖₂·‖v‖₂)   [cosine]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45152" y="42245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 pair: (xᵢ,xⱼ) same image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45152" y="44988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Negatives:  all other samples in X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645152" y="50474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‖zᵢ‖₂ = 1  before loss (L2-normalize)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Discrimination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al., CVPR 2018  ·  Era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Memory Bank 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張圖各為一類（非參數 N-way 分類）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Bank: 儲存 N 個 L2-norm 特徵向量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每步用當前 Encoder 輸出直接替換 Bank（無 EMA）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 正規化常數 Z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" y="277977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8833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估計自第一個 mini-batch，之後固定不動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305409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62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重新計算 Z 會使訓練不穩定（重要 gotcha）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32918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抽樣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" y="367588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844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≈ 4096 個 negatives 從 Bank 隨機抽取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" y="395020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 in-batch negatives（解耦 B 與 negative 數量）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2608" y="41879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10896" y="457200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48056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n_views=1；Bank 特徵扮演第二視角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0896" y="484632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75488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使用弱增強（非 SimCLR 強增強）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(m+1)-way NCE Loss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25696" y="1179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P(i | zᵢ) = exp(zᵢ · vᵢ / τ) / Z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25696" y="1481328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vᵢ: Bank 中圖像 i 的儲存特徵；Z: 固定正規化常數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89120" y="1847088"/>
            <a:ext cx="4443984" cy="329184"/>
          </a:xfrm>
          <a:prstGeom prst="rect">
            <a:avLst/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25696" y="185623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-log P(i | zᵢ)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89120" y="2322576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5696" y="243230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估計（首批執行，之後固定）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25696" y="272491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Z̃ = mean(exp(logits)) × (m+1)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25696" y="3026664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= [pos_logit, neg_logit_1, ..., neg_logit_m]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3392424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350215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更新規則（非 EMA）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25696" y="379476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Bank[idx] ← L2_norm(z_encoder)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25696" y="4096512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直接替換：特徵隨訓練進展而「過時」(stale)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89120" y="4462272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5696" y="457200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關鍵超參數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89120" y="4864608"/>
            <a:ext cx="4443984" cy="329184"/>
          </a:xfrm>
          <a:prstGeom prst="rect">
            <a:avLst/>
          </a:prstGeom>
          <a:solidFill>
            <a:srgbClr val="22D3EE">
              <a:alpha val="18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25696" y="487375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m=4096  |  τ=0.07  |  proj_dim=128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首個以每張圖像為獨立類別的方法；固定 Z 是訓練穩定的關鍵工程細節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and Spreading Instance Feature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 et al., CVPR 2019  ·  Era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In-Batch InfoNCE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架構（SimCLR 直接前身）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視角共用 Backbone + 2-layer Projector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InfoNCE，所有 negatives 來自當前 batch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Memory Bank / Queue / EMA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敏感性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" y="277977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8833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 negatives = 2(B−1)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305409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62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&lt; 256 → 表示品質顯著下降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" y="332841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3697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 用強增強 + LARS optimizer 解決此問題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" y="35661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SimCLR v1 的差異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0896" y="395020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弱增強：color jitter s=0.4（SimCLR s=1.0）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22452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3308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Gaussian Blur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0896" y="449884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40740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與 SimCLR 完全相同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In-Batch InfoNCE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25696" y="117957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[z₁..zB, z₁'..zB'] ∈ ℝ²ᴮˣᴰ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25696" y="146304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Z̃ = L2_norm(Z, dim=1)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25696" y="176479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Z̃ @ Z̃ᵀ / τ         ∈ ℝ²ᴮˣ²ᴮ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25696" y="206654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S.fill_diagonal(-∞)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89120" y="2441448"/>
            <a:ext cx="4443984" cy="329184"/>
          </a:xfrm>
          <a:prstGeom prst="rect">
            <a:avLst/>
          </a:prstGeom>
          <a:solidFill>
            <a:srgbClr val="22D3EE">
              <a:alpha val="18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5696" y="245059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CrossEntropy(S, labels)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25696" y="2825496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labels[i]=i+B, labels[i+B]=i（正樣本在另一半）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89120" y="3191256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25696" y="330098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展開的 per-sample loss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25696" y="359359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ℓ(i,j) = -log exp(z̃ᵢ·z̃ⱼ/τ)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425696" y="389534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/ Σ_{k≠i}²ᴮ exp(z̃ᵢ·z̃ₖ/τ)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89120" y="4197096"/>
            <a:ext cx="4443984" cy="329184"/>
          </a:xfrm>
          <a:prstGeom prst="rect">
            <a:avLst/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25696" y="420624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[ℓ(i,j) + ℓ(j,i)] / 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89120" y="4672584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5696" y="478231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Negatives: 2(B-1)  |  τ=0.1  |  dim=128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22D3EE">
              <a:alpha val="15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Spread 確立 In-Batch Symmetric InfoNCE 框架，SimCLR 僅升級增強策略與 optimizer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 v1 / v2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et al., CVPR 2020  ·  Chen et al., arXiv 2020  ·  Era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1C7293">
              <a:alpha val="2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Momentum Queue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 = g_φ(f_θ(xᵢ))  [梯度流過]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6537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7393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k = g_φ'(f_θ'(xⱼ))  [no_grad]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2140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2996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 存 K 個 key 作為 negatives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4086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vs v2 唯一差異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" y="2633472"/>
            <a:ext cx="3730752" cy="256032"/>
          </a:xfrm>
          <a:prstGeom prst="rect">
            <a:avLst/>
          </a:prstGeom>
          <a:solidFill>
            <a:srgbClr val="0A1014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v1: projector = nn.Linear(feat, 128)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2926080"/>
            <a:ext cx="3730752" cy="256032"/>
          </a:xfrm>
          <a:prstGeom prst="rect">
            <a:avLst/>
          </a:prstGeom>
          <a:solidFill>
            <a:srgbClr val="0A1014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35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v2: projector = MLP(feat→2048→128)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" y="32735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" y="365760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6616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m=0.9 比 m=0.999 差很多（queue key 一致性）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" y="391363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2219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更新必須在 Loss 計算之後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169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07822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encoder 不加入 optimizer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Queue InfoNCE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25696" y="1179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l_pos = (q · k) / τ              [B×1]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25696" y="14813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l_neg = q @ queue / τ            [B×K]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25696" y="178308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cat([l_pos, l_neg], 1)  [B×(K+1)]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89120" y="2176272"/>
            <a:ext cx="4443984" cy="329184"/>
          </a:xfrm>
          <a:prstGeom prst="rect">
            <a:avLst/>
          </a:prstGeom>
          <a:solidFill>
            <a:srgbClr val="22D3EE">
              <a:alpha val="18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5696" y="2185416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CrossEntropy(logits, label=0)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25696" y="256032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label=0: 第一個 logit 是正樣本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89120" y="292608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5696" y="303580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Momentum Update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25696" y="332841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θ' ← m·θ' + (1-m)·θ   [Backbone]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25696" y="36301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φ' ← m·φ' + (1-m)·φ   [Projector]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25696" y="393192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m=0.999（v1/v2），在 on_train_batch_end 執行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429768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440740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 更新（Loss 計算之後）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25696" y="470001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← dequeue → enqueue(k)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89120" y="5001768"/>
            <a:ext cx="4443984" cy="329184"/>
          </a:xfrm>
          <a:prstGeom prst="rect">
            <a:avLst/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25696" y="501091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K=65536  |  τ=0.07  |  m=0.999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Encoder 使 key 特徵跨 batch 一致，解耦 negative 數量與 batch size 的依賴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 v1 / v2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al., ICML 2020 / NeurIPS 2020  ·  Era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Symmetric NT-Xent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強增強：color jitter s=1.0 + Gaussian blur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 Backbone + MLP Projector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用 z（projection），評估用 h（backbone）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vs v2 唯一差異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" y="2688336"/>
            <a:ext cx="3730752" cy="256032"/>
          </a:xfrm>
          <a:prstGeom prst="rect">
            <a:avLst/>
          </a:prstGeom>
          <a:solidFill>
            <a:srgbClr val="0A1014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v1: ProjectionHead(feat→2048→128)    2-layer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2980944"/>
            <a:ext cx="3730752" cy="256032"/>
          </a:xfrm>
          <a:prstGeom prst="rect">
            <a:avLst/>
          </a:prstGeom>
          <a:solidFill>
            <a:srgbClr val="0A1014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v2: ProjectionHead(feat→2048→2048→128) 3-layer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" y="332841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" y="37124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210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 s=1.0（非 torchvision 預設 0.4）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" y="39867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953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&lt; 256 → 表示品質急劇下降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26110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6966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下游評估用 h，不是 z（loss 用 z）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NT-Xent（SimCLR 核心）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25696" y="117957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Z̃ = L2_norm([z₁..zB, z₁'..zB'])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25696" y="146304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Z̃ @ Z̃ᵀ / τ   ∈ ℝ²ᴮˣ²ᴮ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25696" y="176479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S.fill_diagonal_(-∞)         [mask self]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2157984"/>
            <a:ext cx="4443984" cy="329184"/>
          </a:xfrm>
          <a:prstGeom prst="rect">
            <a:avLst/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5696" y="216712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CrossEntropy(S, labels)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25696" y="2542032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等價於 NT-Xent；使用 F.cross_entropy 數值穩定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89120" y="2907792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5696" y="301752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NT-Xent 展開（per-sample）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25696" y="33101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ℓ(i)= -log exp(s_ii'/τ) / Σ_{k≠i} exp(s_ik/τ)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425696" y="361188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 = i+B（正樣本索引）；分母有 2B-1 項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89120" y="397764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25696" y="40873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關鍵超參數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25696" y="43799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Negatives: 2(B-1)  [in-batch only]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89120" y="4681728"/>
            <a:ext cx="4443984" cy="329184"/>
          </a:xfrm>
          <a:prstGeom prst="rect">
            <a:avLst/>
          </a:prstGeom>
          <a:solidFill>
            <a:srgbClr val="22D3EE">
              <a:alpha val="18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25696" y="469087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τ=0.07  |  B≥256  |  LARS optimizer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強增強是效果的關鍵：v2 的 3-layer projector 提升表示品質但 Loss 公式與 v1 完全相同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SwAV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Caron et al., NeurIPS 2020  ·  Era 2: Online Clustering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FBBF24">
              <a:alpha val="20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Sinkhorn-Knopp 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Multi-crop: 2 大（224px）+ N 小（96px）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→ 2-layer projector → L2 normalize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個可學習 Prototype 向量（K≈3000）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Prediction 邏輯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" y="277977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8833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視角 j 的特徵去預測視角 i 的 prototype 分配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305409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62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只對大視角計算 Sinkhorn codes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32918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" y="367588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844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freeze_epochs epoch 凍結 prototype（預設 1）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" y="395020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 optimizer 後 L2 normalize prototype 向量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22452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3308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ε=0.05 Sinkhorn regularization（不穩定降至 0.03）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Score &amp; Soft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25696" y="1179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s(z,cₖ) = z̃ᵀcₖ / τ      [原型相似度分數]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25696" y="14813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SinkhornKnopp(S/ε)   [軟分配碼矩陣]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25696" y="178308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為雙隨機矩陣：所有 prototype 被均勻分配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89120" y="214884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5696" y="22585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Sinkhorn-Knopp 最優傳輸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25696" y="25511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Q* = argmin_Q &lt;-S,Q&gt; + ε·H(Q)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25696" y="28529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 Q1_K = 1_B/B,  Qᵀ1_B = 1_K/K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425696" y="315468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迭代解法：交替行/列正規化 3 次即收斂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89120" y="352044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5696" y="36301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Prediction Cross-Entropy Loss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25696" y="39227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pᵢₖ = softmax(s(zᵢ,cₖ)/τ)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25696" y="42245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ℒ(zᵢ,Qⱼ) = -Σₖ qⱼₖ log pᵢₖ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0" y="4526280"/>
            <a:ext cx="4443984" cy="329184"/>
          </a:xfrm>
          <a:prstGeom prst="rect">
            <a:avLst/>
          </a:prstGeom>
          <a:solidFill>
            <a:srgbClr val="FBBF24">
              <a:alpha val="18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25696" y="453542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Σᵢⱼ [ℒ(zᵢ,Qⱼ)+ℒ(zⱼ,Qᵢ)] / 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FBBF24">
              <a:alpha val="15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確保所有 prototype 均勻使用，避免坍塌至少數幾個 prototype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InfoMin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 et al., NeurIPS 2020  ·  Era 2: View Design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F472B6">
              <a:alpha val="20000"/>
            </a:srgbClr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</a:rPr>
              <a:t>Minimal-MI Views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良好視角僅共享任務所需的最小 MI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多餘 MI（texture、color 偏差）是噪音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與 SimCLR 完全相同，差異只在增強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InfoMin 增強策略（vs SimCLR）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" y="2688336"/>
            <a:ext cx="3730752" cy="256032"/>
          </a:xfrm>
          <a:prstGeom prst="rect">
            <a:avLst/>
          </a:prstGeom>
          <a:solidFill>
            <a:srgbClr val="0A1014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SimCLR: jitter(s=1.0) + blur(p=0.5)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2980944"/>
            <a:ext cx="3730752" cy="256032"/>
          </a:xfrm>
          <a:prstGeom prst="rect">
            <a:avLst/>
          </a:prstGeom>
          <a:solidFill>
            <a:srgbClr val="0A1014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InfoMin: jitter(s=1.5) + gray(p=0.4)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3273552"/>
            <a:ext cx="3730752" cy="256032"/>
          </a:xfrm>
          <a:prstGeom prst="rect">
            <a:avLst/>
          </a:prstGeom>
          <a:solidFill>
            <a:srgbClr val="0A1014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NO Gaussian blur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362102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0896" y="400507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91363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本庫實作為增強策略示範版本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27939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8795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原論文含半監督視角學習框架（未實作）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0896" y="455371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46227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在自然圖像外的 domain 需重新設計增強策略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互信息理論基礎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25696" y="1179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I(v₁; v₂) = H(v₁) - H(v₁|v₂)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25696" y="14813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I(v₁; v₂) ≥ I(v₁; Y)   [Data Processing Ineq.]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25696" y="178308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下游任務標籤；視角需保留足夠 Y 的資訊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89120" y="214884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25696" y="22585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InfoMin 最優視角條件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25696" y="25511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v* = argmin I(v₁;v₂)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25696" y="2852928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s.t. I(v;Y) ≥ I_min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25696" y="3136392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在保留足夠語意信息下最小化視角間 MI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89120" y="3502152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25696" y="361188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Loss（與 SimCLR 完全相同）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0" y="3904488"/>
            <a:ext cx="4443984" cy="329184"/>
          </a:xfrm>
          <a:prstGeom prst="rect">
            <a:avLst/>
          </a:prstGeom>
          <a:solidFill>
            <a:srgbClr val="F472B6">
              <a:alpha val="18000"/>
            </a:srgbClr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25696" y="391363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ℒ_InfoMin = ℒ_NT-Xent(zᵢ, zⱼ)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25696" y="4288536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差異只在 build_augmentation() 的策略設計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89120" y="4654296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5696" y="476402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Negatives: 2(B-1)  |  τ=0.07  |  dim=128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F472B6">
              <a:alpha val="15000"/>
            </a:srgbClr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揭示增強策略的設計原則：最小 MI 視角使 encoder 學到更通用的語意特徵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et al., NeurIPS 2020  ·  Era 3: No Negatives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EMA Bootstrap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vs Target 架構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 f_θ → g_φ → q_ψ（Predictor 獨有）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f_θ' → g_φ'（無 Predictor）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以 cosine-scheduled EMA 更新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防坍塌雙重機制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" y="277977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8833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不對稱 → 破壞梯度捷徑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305409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62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慢更新 → Target 特徵穩定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" y="332841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3697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缺一都會立即坍塌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" y="35661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0896" y="395020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動量必須 cosine schedule（0.996→1.0）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22452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3308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無 Predictor（加了就坍塌）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0896" y="449884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40740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輸出 L2-norm 後再送 Predictor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Cosine Loss (Stop-gradient)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25696" y="1179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z₁ = norm(g_φ(f_θ(v₁)))   [online proj]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25696" y="14813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p₁ = q_ψ(z₁)              [online pred]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25696" y="178308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t₂ = sg(norm(g_φ'(f_θ'(v₂)))) [target]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25696" y="217627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ℓ(p,t) = 2 - 2·cos_sim(p, t.detach())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89120" y="2478024"/>
            <a:ext cx="4443984" cy="329184"/>
          </a:xfrm>
          <a:prstGeom prst="rect">
            <a:avLst/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5696" y="248716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[ℓ(p₁,t₂) + ℓ(p₂,t₁)] / 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25696" y="2862072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等價於 ‖p̃-t̃‖²₂；sg 使梯度只流經 online 端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89120" y="3227832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25696" y="333756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Cosine-Scheduled EMA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25696" y="36301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m(t) = 1-(1-m₀)·(cos(πt/T)+1)/2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25696" y="393192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θ' ← m(t)·θ' + (1-m(t))·θ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25696" y="4233672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m₀=0.996, m(T)=1.0；T=total training steps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89120" y="4599432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4709160"/>
            <a:ext cx="4443984" cy="329184"/>
          </a:xfrm>
          <a:prstGeom prst="rect">
            <a:avLst/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5696" y="471830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proj: D→4096→256  |  pred: 256→4096→256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理論上等價於 EM 算法兩步交替：predictor 的 E-step，backbone 的 M-step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SimSiam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&amp; He, CVPR 2021  ·  Era 3: Stop-Gradient Only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Stop-Gradient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架構（最簡 No-Negative 方法）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兩視角共用完全相同的 Backbone + Projector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Predictor: bottleneck MLP 2048→512→2048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EMA、無 Queue、無 Negative、無 Batch Norm 依賴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唯一防坍塌機制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" y="277977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8833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.detach() on z（stop-gradient）是唯一機制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305409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62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拿掉 .detach() → 2 epoch 坍塌至 loss=−1.0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32918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" y="367588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844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末層：BN 但無 ReLU（加 ReLU 變差）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" y="395020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SGD，lr = 0.05 × B / 256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22452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3308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崩潰指標：z.std(dim=0).mean() → 0（應≈0.707）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SimSiam Loss（Stop-Gradient Cosine）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25696" y="1179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z₁ = g_φ(f_θ(v₁))   z₂ = g_φ(f_θ(v₂))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25696" y="14813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p₁ = q_ψ(z₁)         p₂ = q_ψ(z₂)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1874520"/>
            <a:ext cx="4443984" cy="329184"/>
          </a:xfrm>
          <a:prstGeom prst="rect">
            <a:avLst/>
          </a:prstGeom>
          <a:solidFill>
            <a:srgbClr val="22D3EE">
              <a:alpha val="18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25696" y="188366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-[cos(p₁,sg(z₂)) + cos(p₂,sg(z₁))]/2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25696" y="2258568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sg=.detach()；梯度只流過 p 端（predictor）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89120" y="2624328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25696" y="273405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 Stop-Gradient 防坍塌？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25696" y="302666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無 sg: ∂ℒ/∂θ → 恆等解（所有輸出相同）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25696" y="332841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有 sg: EM 交替優化（Chen &amp; He, App.D）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425696" y="3630168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等效於：固定目標 → 優化 predictor → 固定 pred → 優化 enc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89120" y="3995928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25696" y="410565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崩潰診斷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25696" y="439826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= z.std(dim=0).mean()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89120" y="4700016"/>
            <a:ext cx="4443984" cy="329184"/>
          </a:xfrm>
          <a:prstGeom prst="rect">
            <a:avLst/>
          </a:prstGeom>
          <a:solidFill>
            <a:srgbClr val="FBBF24">
              <a:alpha val="18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25696" y="470916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→ 0.707 (正常)  |  std → 0 (坍塌)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22D3EE">
              <a:alpha val="15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Stop-gradient 是 SimSiam 中唯一防坍塌的機制；移除後 loss 在 2 個 epoch 內降至 −1.0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Barlow Twins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Zbontar et al., ICML 2021  ·  Era 3: Redundancy Reduction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Cross-Correlation → Identity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 Backbone + 3-layer Projector（8192-dim）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高維 projection 是關鍵（128/256-dim 明顯劣）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EMA / Predictor / Negative / Queue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設計直覺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" y="277977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8833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對角 Cᵢᵢ → 1：不同視角的同維度應一致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305409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62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非對角 Cᵢⱼ → 0：不同維度應去相關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32918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" y="367588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844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必須除以 B（batch size）再計算 loss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" y="395020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敏感：5e-3 是論文建議值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22452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3308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崩潰指標：diag(C).mean() &lt; 0.5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Cross-Correlation Matrix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25696" y="1179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zₐ = norm(g(f(v₁)))   ∈ ℝᴮˣᴰ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25696" y="14813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z_b = norm(g(f(v₂)))   ∈ ℝᴮˣᴰ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25696" y="178308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zₐᵀ @ z_b / B     ∈ ℝᴰˣᴰ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25696" y="2084832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C_ij: 視角 v₁ 的第 i 維與 v₂ 的第 j 維的相關係數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0" y="2450592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25696" y="256032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Barlow Twins Loss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25696" y="28529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ℒ_inv = Σᵢ (1 - Cᵢᵢ)²         [對角項]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25696" y="315468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ℒ_red = Σᵢ Σ_{j≠i} Cᵢⱼ²      [非對角項]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89120" y="3456432"/>
            <a:ext cx="4443984" cy="329184"/>
          </a:xfrm>
          <a:prstGeom prst="rect">
            <a:avLst/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5696" y="3465576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ℒ_inv + λ·ℒ_red    (λ=5e-3)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25696" y="384048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I（單位矩陣）是 Loss 全域最小值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420624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4315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 Off-Diagonal 提取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25696" y="4608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 = C.flatten()[:-1].view(D-1,D+1)[:,1:]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89120" y="4910328"/>
            <a:ext cx="4443984" cy="329184"/>
          </a:xfrm>
          <a:prstGeom prst="rect">
            <a:avLst/>
          </a:prstGeom>
          <a:solidFill>
            <a:srgbClr val="22D3EE">
              <a:alpha val="18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25696" y="491947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proj_dim=8192  |  λ=5e-3  |  BN on proj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 Barlow (1961) 神經冗餘消除啟發；Loss 本身即是防坍塌機制（無需 EMA/predictor）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 v3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Xie &amp; He, ICCV 2021  ·  Era 4: Transformer-Based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ViT + Patch Freeze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MoCo v2 的三大修改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凍結 patch_embed.proj（ViT 穩定關鍵）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捨棄 Queue，改用 in-batch symmetric loss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使用 AdamW（ViT 需要 adaptive optimizer）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" y="277977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8833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 f_θ → g_φ → q_ψ（Predictor）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305409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62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Momentum: f_θ' → g_φ'（無 Predictor）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" y="332841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3697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InfoNCE（兩方向各算一次）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" y="35661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0896" y="395020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m=0.99（比 v1/v2 的 0.999 更快 EMA 更新）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22452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3308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patch_embed 凍結前先 deepcopy → EMA 也凍結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0896" y="449884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40740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gradient_clip_val=1.0 增加穩定性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Embedding Freeze（最重要的工程細節）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25696" y="1179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backbone.patch_embed.proj.weight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25696" y="14813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.requires_grad_(False)  # freezed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25696" y="178308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 Conv2d patch 映射成為 trivial shortcut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89120" y="214884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25696" y="22585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In-Batch InfoNCE（無 Queue）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25696" y="25511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q₁=q_ψ(g(f(v₁)))  k₂=sg(g'(f'(v₂)))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25696" y="28529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ℒ_fwd = InfoNCE(q₁, k₂)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25696" y="315468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ℒ_bwd = InfoNCE(q₂, k₁)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89120" y="3456432"/>
            <a:ext cx="4443984" cy="329184"/>
          </a:xfrm>
          <a:prstGeom prst="rect">
            <a:avLst/>
          </a:prstGeom>
          <a:solidFill>
            <a:srgbClr val="22D3EE">
              <a:alpha val="18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25696" y="3465576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(ℒ_fwd + ℒ_bwd) / 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25696" y="384048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用 [B×B] similarity matrix，無需 queue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89120" y="420624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25696" y="4315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常數 EMA（無 cosine schedule）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25696" y="4608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θ' ← m·θ' + (1-m)·θ  [m=0.99, constant]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89120" y="4910328"/>
            <a:ext cx="4443984" cy="329184"/>
          </a:xfrm>
          <a:prstGeom prst="rect">
            <a:avLst/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25696" y="491947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m=0.99  |  τ=0.2  |  proj: D→4096→256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22D3EE">
              <a:alpha val="15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凍結 patch_embed 是 ViT contrastive learning 中最重要的單一工程細節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/ DINOv2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Caron et al., ICCV 2021  ·  Oquab et al., TMLR 2024  ·  Era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768096"/>
            <a:ext cx="3913632" cy="4160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solidFill>
            <a:srgbClr val="FBBF24">
              <a:alpha val="20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77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Centering + Sharpening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Student-Teacher 架構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" y="16093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17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所有 crops（2 大 + N 小）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922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Teacher（EMA）: 只處理大 crops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層 65536-dim（維度很重要）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防坍塌雙重機制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" y="277977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8833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Centering: 減去 Teacher 輸出的動量均值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305409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62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Sharpening: Teacher 用低溫 τ_t 尖銳化分布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32918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" y="367588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844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更新必須在 Loss 之前（順序關鍵！）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" y="395020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溫度 warmup: 0.07 → 0.04（高→低）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" y="422452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3308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gradient_clip_val=3.0 穩定 ViT 訓練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15968" y="768096"/>
            <a:ext cx="4636008" cy="4160520"/>
          </a:xfrm>
          <a:prstGeom prst="rect">
            <a:avLst/>
          </a:prstGeom>
          <a:solidFill>
            <a:srgbClr val="0A101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25696" y="886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Centering + Sharpening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25696" y="1179576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t_logits = Prototype_ema(norm(g_ema(f_ema(x))))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25696" y="14813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← λ·c + (1-λ)·mean(t_logits)  [動量更新]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25696" y="178308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t_probs = softmax((t_logits-c) / τ_t)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25696" y="2084832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中心化防止所有維度飽和；τ_t 低溫使分布尖銳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0" y="2450592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25696" y="256032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Loss（跳過同視角對）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25696" y="28529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s_log_p = log_softmax(Prototype(norm(g(f(crop))))/τ_s)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25696" y="315468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ℒ(i,j) = -Σₖ t_probs_j[k]·s_log_p_i[k]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89120" y="3456432"/>
            <a:ext cx="4443984" cy="329184"/>
          </a:xfrm>
          <a:prstGeom prst="rect">
            <a:avLst/>
          </a:prstGeom>
          <a:solidFill>
            <a:srgbClr val="FBBF24">
              <a:alpha val="18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5696" y="3465576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Σ_{i≠j} ℒ(student_i, teacher_j) / N_pairs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25696" y="384048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i≠j：跳過同視角對；N_pairs=(n_crops−2)×2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4206240"/>
            <a:ext cx="44439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43159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n_prototypes=65536  |  τ_s=0.1  |  τ_t=0.04→0.07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25696" y="4617720"/>
            <a:ext cx="4407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加入 iBOT masked image modeling 及 LVD-142M 資料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01168" y="4919472"/>
            <a:ext cx="8750808" cy="201168"/>
          </a:xfrm>
          <a:prstGeom prst="rect">
            <a:avLst/>
          </a:prstGeom>
          <a:solidFill>
            <a:srgbClr val="FBBF24">
              <a:alpha val="15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49194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在 LVD-142M 資料上訓練，本庫僅提供 feature extraction demo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坍塌防止機制比較分析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Prevention · All 14 Methods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49808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1143000"/>
                <a:gridCol w="868680"/>
                <a:gridCol w="1051560"/>
                <a:gridCol w="178308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方法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防坍塌機制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需 Negative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EMA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Predictor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崩潰監控指標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Instance Disc.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NCE + Memory Bank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(m≈4096)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loss ≫ -log(1/N)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Invariant Spread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In-batch negatives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(2B-2)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loss 不收斂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MoCo v1/v2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Queue negatives + EMA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(K=65536)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m=0.999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loss 不收斂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SimCLR v1/v2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In-batch negatives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(2B-2)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loss 不收斂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SwAV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Sinkhorn OT 均勻分配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 (prototypes)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diag(C) → 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InfoMin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In-batch negatives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(2B-2)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loss 不收斂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BYOL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Predictor 非對稱 + EMA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cosine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standard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embed_std → 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SimSiam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Stop-gradient（唯一）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bottleneck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std→0, loss→−1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Barlow Twins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Cross-corr → Identity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diag(C) &lt; 0.5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MoCo v3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In-batch + EMA + patch freeze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(2B-2)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m=0.99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standard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loss spike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DINO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Centering + Sharpening + EMA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cosine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teacher entropy ↑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4773168"/>
            <a:ext cx="8778240" cy="338328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4773168"/>
            <a:ext cx="8577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理論統一視角: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所有防坍塌策略均可詮釋為破壞 trivial constant solution 的梯度路徑 — 顯式排斥（負樣本）、隱式排斥（架構不對稱 + EMA）、結構約束（去相關 loss）三種範式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種方法關鍵超參數對照表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 · Full Comparison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1481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94360"/>
                <a:gridCol w="868680"/>
                <a:gridCol w="411480"/>
                <a:gridCol w="914400"/>
                <a:gridCol w="777240"/>
                <a:gridCol w="640080"/>
                <a:gridCol w="676656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方法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n_views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Loss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τ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Negatives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Projector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dim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EMA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Predictor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Instance Disc.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4096 (bank)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Invariant Spread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InfoNCE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2(B-1)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MoCo v1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InfoNCE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65536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Linear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0.999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MoCo v2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InfoNCE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65536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0.999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SimCLR v1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NT-Xent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2(B-1)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SimCLR v2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NT-Xent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2(B-1)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3-layer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SwAV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CE (OT)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K≈3000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InfoMin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NT-Xent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2(B-1)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BYOL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Cosine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256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cos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std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SimSiam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Cosine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3-layer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2048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btlnk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Barlow Twins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Cross-corr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3-layer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8192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MoCo v3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InfoNCE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2(B-1)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3-layer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256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0.99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std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DINO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CE (distil)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0.04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3-layer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65536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cos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DINOv2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iBOT+DINO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0.04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3-layer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65536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✓ cos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64592" y="4690872"/>
            <a:ext cx="8814816" cy="420624"/>
          </a:xfrm>
          <a:prstGeom prst="rect">
            <a:avLst/>
          </a:prstGeom>
          <a:solidFill>
            <a:srgbClr val="FBBF24">
              <a:alpha val="12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690872"/>
            <a:ext cx="857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趨勢觀察: 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3/4 拋棄大量負樣本換取架構非對稱性；Projection dim 從 128 增至 65536；Projector 從 2-layer 升至 3-layer；τ 在 no-negative 方法中不再有效（改由架構設計控制分布）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30363D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685800"/>
            <a:ext cx="7680960" cy="3794760"/>
          </a:xfrm>
          <a:prstGeom prst="rect">
            <a:avLst/>
          </a:prstGeom>
          <a:solidFill>
            <a:srgbClr val="161B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685800"/>
            <a:ext cx="109728" cy="3794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685800"/>
            <a:ext cx="768096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8686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演算法全景回顧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078992" y="1508760"/>
            <a:ext cx="256032" cy="256032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150876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所有方法均衍生自 InfoNCE:  ℒ = -log f(pos) / Σ f(neg)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78992" y="1929384"/>
            <a:ext cx="256032" cy="256032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1929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26464" y="1929384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溫度 τ 控制分布尖銳度，直接決定訓練穩定性與表示品質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78992" y="2350008"/>
            <a:ext cx="256032" cy="256032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26464" y="2350008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3/4: 架構不對稱（Predictor + EMA）取代顯式負樣本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78992" y="2770632"/>
            <a:ext cx="256032" cy="256032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26464" y="277063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dim 演進: 128 → 256 → 2048 → 8192 → 65536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78992" y="3191256"/>
            <a:ext cx="256032" cy="256032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26464" y="319125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需要 patch freeze + AdamW + gradient clip；ResNet 習慣不可直接遷移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Self-Supervised Contrastive Learning  ·  Mathematical Deep Dive  ·  Era 1–4  ·  2018–2024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2026-05-03T15:35:52Z</dcterms:created>
  <dcterms:modified xsi:type="dcterms:W3CDTF">2026-05-03T15:35:52Z</dcterms:modified>
</cp:coreProperties>
</file>