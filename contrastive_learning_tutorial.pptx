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325880"/>
            <a:ext cx="64008" cy="2286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560320"/>
            <a:ext cx="3200400" cy="320040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自監督對比學習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方法教學庫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種方法完整實作　·　從 2018 到 2024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041648"/>
            <a:ext cx="2103120" cy="329184"/>
          </a:xfrm>
          <a:prstGeom prst="rect">
            <a:avLst/>
          </a:prstGeom>
          <a:solidFill>
            <a:srgbClr val="0A355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41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Lightning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4041648"/>
            <a:ext cx="2103120" cy="329184"/>
          </a:xfrm>
          <a:prstGeom prst="rect">
            <a:avLst/>
          </a:prstGeom>
          <a:solidFill>
            <a:srgbClr val="0A355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4041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/ ViT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4041648"/>
            <a:ext cx="2103120" cy="329184"/>
          </a:xfrm>
          <a:prstGeom prst="rect">
            <a:avLst/>
          </a:prstGeom>
          <a:solidFill>
            <a:srgbClr val="0A355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4041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/ ImageNet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3557"/>
          </a:solidFill>
          <a:ln w="12700">
            <a:solidFill>
              <a:srgbClr val="0A35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ML Tutorial Series  ·  Contrastive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557"/>
          </a:solidFill>
          <a:ln w="12700">
            <a:solidFill>
              <a:srgbClr val="0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什麼是自監督對比學習？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5176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005840"/>
            <a:ext cx="731520" cy="731520"/>
          </a:xfrm>
          <a:prstGeom prst="ellipse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不需要標籤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從大量未標記資料中學習視覺表示，大幅降低人工標注成本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6517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77240"/>
            <a:ext cx="26517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005840"/>
            <a:ext cx="731520" cy="73152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91840" y="18745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對比目標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237744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拉近同一圖像的不同增強視角，同時推開不同圖像的特徵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777240"/>
            <a:ext cx="26517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777240"/>
            <a:ext cx="265176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005840"/>
            <a:ext cx="731520" cy="731520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強大表示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預訓練特徵可遷移至下游分類、物件偵測等任務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114800"/>
            <a:ext cx="8503920" cy="713232"/>
          </a:xfrm>
          <a:prstGeom prst="rect">
            <a:avLst/>
          </a:prstGeom>
          <a:solidFill>
            <a:srgbClr val="0A3557"/>
          </a:solidFill>
          <a:ln w="12700">
            <a:solidFill>
              <a:srgbClr val="0A355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411480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核心思想：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最大化同一樣本不同視角之間的互信息（Mutual Information），同時最小化不同樣本間的相似度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557"/>
          </a:solidFill>
          <a:ln w="12700">
            <a:solidFill>
              <a:srgbClr val="0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專案架構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70332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7840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ml_topic_contrastive_learning/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45389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core/       # 共用基礎設施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92938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methods/    # 14 種 SSL 方法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40487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configs/    # 17 個 YAML 設定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eval/       # 6 種評估工具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3558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      # 326+ 測試案例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83133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train.py    # 統一訓練入口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777240"/>
            <a:ext cx="46634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777240"/>
            <a:ext cx="73152" cy="8869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8503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117957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BaseSSLModule、Config schema、EMA、Projection heads、Losses、Data module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1783080"/>
            <a:ext cx="46634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1783080"/>
            <a:ext cx="73152" cy="8869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8562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2185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每個方法為獨立 sub-package，繼承 BaseSSLModule，只需實作 loss function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6240" y="2788920"/>
            <a:ext cx="46634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0" y="2788920"/>
            <a:ext cx="73152" cy="8869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28620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configs/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319125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+ Pydantic v2 嚴格驗證，extra='forbid' 防止 typo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06240" y="3794760"/>
            <a:ext cx="466344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06240" y="3794760"/>
            <a:ext cx="73152" cy="8869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8679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0" y="419709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/ Linear Probe / t-SNE / UMAP / Fine-tuning / CAM 六種評估工具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557"/>
          </a:solidFill>
          <a:ln w="12700">
            <a:solidFill>
              <a:srgbClr val="0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四個時代的方法演進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2084832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77240"/>
            <a:ext cx="208483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7724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Era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" y="1088136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Proxy Tasks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02082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9842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Discrimination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45973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42316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Spread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3977640"/>
            <a:ext cx="1975104" cy="576072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3977640"/>
            <a:ext cx="1975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Bank；每圖自成一類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14016" y="777240"/>
            <a:ext cx="2084832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14016" y="777240"/>
            <a:ext cx="2084832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14016" y="77724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Era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14016" y="1088136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05456" y="14356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In-Batch Contrastive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2020824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34056" y="19842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MoCo v1/v2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0" y="2459736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34056" y="242316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SimCLR v1/v2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0" y="2898648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34056" y="28620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SwAV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0" y="3337560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34056" y="3300984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InfoMin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68880" y="3977640"/>
            <a:ext cx="1975104" cy="576072"/>
          </a:xfrm>
          <a:prstGeom prst="rect">
            <a:avLst/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3977640"/>
            <a:ext cx="1975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Encoder；強資料增強；NT-Xent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26864" y="777240"/>
            <a:ext cx="2084832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26864" y="777240"/>
            <a:ext cx="208483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77724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Era 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26864" y="1088136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18304" y="14356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No-Negative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73168" y="202082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46904" y="19842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73168" y="245973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46904" y="242316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SimSiam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73168" y="289864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46904" y="28620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Barlow Twins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81728" y="3977640"/>
            <a:ext cx="1975104" cy="576072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3977640"/>
            <a:ext cx="1975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無需負樣本；Predictor 不對稱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39712" y="777240"/>
            <a:ext cx="2084832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39712" y="777240"/>
            <a:ext cx="2084832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9712" y="77724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Era 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839712" y="1088136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31152" y="14356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Transformer-Based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986016" y="20208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59752" y="19842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MoCo v3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86016" y="245973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9752" y="2423160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986016" y="289864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59752" y="28620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894576" y="3977640"/>
            <a:ext cx="1975104" cy="576072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94576" y="3977640"/>
            <a:ext cx="1975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骨幹；Centering + Sharpening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557"/>
          </a:solidFill>
          <a:ln w="12700">
            <a:solidFill>
              <a:srgbClr val="0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 種方法總覽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94360"/>
                <a:gridCol w="685800"/>
                <a:gridCol w="5394960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年份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時代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主要貢獻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55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Instance Discrimination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Non-param Memory Bank，每張圖像自成一類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Invariant Spread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In-batch softmax 對比，SimCLR 直接前身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MoCo v1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Momentum encoder + FIFO queue 大量負樣本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MoCo v2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MoCo + MLP head + cosine LR 改進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SimCLR v1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強資料增強 + symmetric NT-Xent loss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SimCLR v2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更深 3-layer projection head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SwAV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Sinkhorn-Knopp online clustering + multi-crop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InfoMin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Minimal-MI 增強策略原則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BYOL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EMA + predictor 不對稱，無需任何負樣本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SimSiam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Stop-gradient 防塌陷，無 EMA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Barlow Twins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交叉相關矩陣趨近單位矩陣（冗餘消除）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MoCo v3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MoCo for ViT；patch projection freeze 穩定訓練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Centering + sharpening student-teacher；無對比損失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DINOv2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Era 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大規模預訓練；教學庫提供 feature extraction demo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557"/>
          </a:solidFill>
          <a:ln w="12700">
            <a:solidFill>
              <a:srgbClr val="0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共用訓練框架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50976"/>
            <a:ext cx="530352" cy="530352"/>
          </a:xfrm>
          <a:prstGeom prst="ellipse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868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Lightning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22529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BaseSSLModule — 統一 training loop、checkpoint 管理、混合精度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84248"/>
            <a:ext cx="530352" cy="530352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84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9019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Config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258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+ extra='forbid' 嚴格驗證，防止 copy-paste typo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43784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17520"/>
            <a:ext cx="530352" cy="530352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🦴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293522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timm Backbone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ResNet-18/50、ViT-Small/Base 等任意 timm 模型名稱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4050792"/>
            <a:ext cx="530352" cy="530352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39684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Suite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3251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/ SGD / LARS + cosine warmup LR scheduler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777240"/>
            <a:ext cx="4224528" cy="41330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36592" y="877824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configs/simclr_v1_resnet18.yaml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method: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simclr_v1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15636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backbone: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resnet18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1892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pretrained: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false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2221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max_epochs: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551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batch_size: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256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lr: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3.0e-4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209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optimizer: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adamw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538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n_views: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867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simclr: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197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temperature: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proj_dim: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557"/>
          </a:solidFill>
          <a:ln w="12700">
            <a:solidFill>
              <a:srgbClr val="0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種評估工具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779776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2779776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" y="932688"/>
            <a:ext cx="512064" cy="512064"/>
          </a:xfrm>
          <a:prstGeom prst="ellipse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932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9601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Evaluation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45336"/>
            <a:ext cx="256032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453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KNNCallback (內建)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92808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訓練期間每 N epoch 自動評估，無需額外指令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63824" y="749808"/>
            <a:ext cx="2779776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749808"/>
            <a:ext cx="2779776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82696" y="932688"/>
            <a:ext cx="512064" cy="512064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932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95344" y="9601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73552" y="1545336"/>
            <a:ext cx="256032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15453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eval/linear_probe.py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73552" y="1892808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凍結 backbone，訓練 linear head，weight_decay=0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71616" y="749808"/>
            <a:ext cx="2779776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749808"/>
            <a:ext cx="2779776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932688"/>
            <a:ext cx="512064" cy="512064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932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03136" y="9601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視覺化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81344" y="1545336"/>
            <a:ext cx="256032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15453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eval/tsne_vis.py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81344" y="1892808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sweep: 10/30/50，特徵分布可視化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" y="2926080"/>
            <a:ext cx="2779776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2926080"/>
            <a:ext cx="2779776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" y="3108960"/>
            <a:ext cx="512064" cy="512064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3108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87552" y="313639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視覺化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3721608"/>
            <a:ext cx="256032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21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eval/umap_vis.py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069080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大樣本（&gt;5K）推薦，比 t-SNE 更快速穩定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163824" y="2926080"/>
            <a:ext cx="2779776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63824" y="2926080"/>
            <a:ext cx="2779776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82696" y="3108960"/>
            <a:ext cx="512064" cy="512064"/>
          </a:xfrm>
          <a:prstGeom prst="ellipse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82696" y="3108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895344" y="313639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273552" y="3721608"/>
            <a:ext cx="256032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73552" y="3721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eval/finetune.py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73552" y="4069080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LR 1e-4 / head LR 1e-3，分組學習率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71616" y="2926080"/>
            <a:ext cx="2779776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71616" y="2926080"/>
            <a:ext cx="2779776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0488" y="3108960"/>
            <a:ext cx="512064" cy="512064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0488" y="3108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803136" y="313639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視覺化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81344" y="3721608"/>
            <a:ext cx="2560320" cy="274320"/>
          </a:xfrm>
          <a:prstGeom prst="rect">
            <a:avLst/>
          </a:prstGeom>
          <a:solidFill>
            <a:srgbClr val="0D1B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81344" y="3721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eval/cam_vis.py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81344" y="4069080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用 EigenCAM，含分類器用 GradCAM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557"/>
          </a:solidFill>
          <a:ln w="12700">
            <a:solidFill>
              <a:srgbClr val="0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快速開始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59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84124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安裝依賴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1143000"/>
            <a:ext cx="8001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143000"/>
            <a:ext cx="8001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-r requirements.txt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1719072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 CIFAR-10 資料集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2020824"/>
            <a:ext cx="8001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020824"/>
            <a:ext cx="8001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convert_cifar10.py  # 一次轉換為 ImageFolder 格式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596896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 SimCLR v1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2898648"/>
            <a:ext cx="8001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898648"/>
            <a:ext cx="8001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train.py --config configs/simclr_v1_resnet18.yaml --data-dir data/cifar10_imagefolder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49300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347472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 評估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3776472"/>
            <a:ext cx="8001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776472"/>
            <a:ext cx="8001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eval/linear_probe.py configs/simclr_v1_resnet18.yaml --ckpt checkpoints/last.ckpt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37083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4352544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特徵可視化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" y="4654296"/>
            <a:ext cx="800100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654296"/>
            <a:ext cx="800100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eval/umap_vis.py configs/simclr_v1_resnet18.yaml --ckpt checkpoints/last.ckpt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3557"/>
          </a:solidFill>
          <a:ln w="12700">
            <a:solidFill>
              <a:srgbClr val="0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主要特色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779776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2779776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868680"/>
            <a:ext cx="475488" cy="47548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868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144475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可重現性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7472" y="18470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First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" y="2249424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12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 config YAML — 每個實驗完整記錄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" y="2706624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670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驗證防止設定錯誤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" y="3163824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Lightning checkpoint 自動管理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" y="3621024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584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固定隨機種子支援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63824" y="749808"/>
            <a:ext cx="2779776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63824" y="749808"/>
            <a:ext cx="2779776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9664" y="868680"/>
            <a:ext cx="475488" cy="47548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9664" y="868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55264" y="144475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模組化設計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255264" y="18470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28416" y="22494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864" y="2212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每個方法繼承 BaseSSLModule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28416" y="27066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83864" y="2670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只需實作各自的 loss function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28416" y="31638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83864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 Projection heads / EMA / Losses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28416" y="36210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3864" y="3584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新增一個方法 &lt; 100 行程式碼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71616" y="749808"/>
            <a:ext cx="2779776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71616" y="749808"/>
            <a:ext cx="2779776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77456" y="868680"/>
            <a:ext cx="475488" cy="47548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77456" y="868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163056" y="144475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橫向比較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163056" y="18470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36208" y="224942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2212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種方法跑在完全相同的 pipeline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36208" y="270662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91656" y="2670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相同 backbone 與增強策略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36208" y="316382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91656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種評估工具統一量測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36208" y="362102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91656" y="3584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適合學術研究對比實驗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4114800" cy="4114800"/>
          </a:xfrm>
          <a:prstGeom prst="ellipse">
            <a:avLst/>
          </a:prstGeom>
          <a:solidFill>
            <a:srgbClr val="065A82">
              <a:alpha val="24000"/>
            </a:srgbClr>
          </a:solidFill>
          <a:ln w="12700">
            <a:solidFill>
              <a:srgbClr val="065A82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1207008"/>
            <a:ext cx="3291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3584448"/>
            <a:ext cx="3291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開始探索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種對比學習方法，等你來實驗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907792"/>
            <a:ext cx="1828800" cy="365760"/>
          </a:xfrm>
          <a:prstGeom prst="rect">
            <a:avLst/>
          </a:prstGeom>
          <a:solidFill>
            <a:srgbClr val="0A355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07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2907792"/>
            <a:ext cx="1828800" cy="365760"/>
          </a:xfrm>
          <a:prstGeom prst="rect">
            <a:avLst/>
          </a:prstGeom>
          <a:solidFill>
            <a:srgbClr val="0A355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907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2.0+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907792"/>
            <a:ext cx="1828800" cy="365760"/>
          </a:xfrm>
          <a:prstGeom prst="rect">
            <a:avLst/>
          </a:prstGeom>
          <a:solidFill>
            <a:srgbClr val="0A355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907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CUDA 皆支援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2907792"/>
            <a:ext cx="1828800" cy="365760"/>
          </a:xfrm>
          <a:prstGeom prst="rect">
            <a:avLst/>
          </a:prstGeom>
          <a:solidFill>
            <a:srgbClr val="0A355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907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326+ 測試案例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37307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Tutorial Series  ·  Contrastive Learning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3557"/>
          </a:solidFill>
          <a:ln w="12700">
            <a:solidFill>
              <a:srgbClr val="0A355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自監督對比學習方法教學庫</dc:title>
  <dc:subject>PptxGenJS Presentation</dc:subject>
  <dc:creator>Yi-Ting Li</dc:creator>
  <cp:lastModifiedBy>Yi-Ting Li</cp:lastModifiedBy>
  <cp:revision>1</cp:revision>
  <dcterms:created xsi:type="dcterms:W3CDTF">2026-05-03T15:20:50Z</dcterms:created>
  <dcterms:modified xsi:type="dcterms:W3CDTF">2026-05-03T15:20:50Z</dcterms:modified>
</cp:coreProperties>
</file>